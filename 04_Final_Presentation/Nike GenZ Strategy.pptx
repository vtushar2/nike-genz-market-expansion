
<file path=[Content_Types].xml><?xml version="1.0" encoding="utf-8"?>
<Types xmlns="http://schemas.openxmlformats.org/package/2006/content-types">
  <Default Extension="0&amp;ixid=M3wxMjA3fDB8MHxzZWFyY2h8NHx8bmlrZSUyMHdhbGxwYXBlcnxlbnwwfHwwfHx8MA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51"/>
  </p:normalViewPr>
  <p:slideViewPr>
    <p:cSldViewPr snapToGrid="0" snapToObjects="1">
      <p:cViewPr varScale="1">
        <p:scale>
          <a:sx n="105" d="100"/>
          <a:sy n="105" d="100"/>
        </p:scale>
        <p:origin x="6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0&amp;ixid=M3wxMjA3fDB8MHxzZWFyY2h8NHx8bmlrZSUyMHdhbGxwYXBlcnxlbnwwfHwwfHx8M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blue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464040" y="0"/>
            <a:ext cx="2727655" cy="6858000"/>
          </a:xfrm>
          <a:prstGeom prst="rect">
            <a:avLst/>
          </a:prstGeom>
          <a:solidFill>
            <a:srgbClr val="B1D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 Black"/>
              </a:rPr>
              <a:t>INDEPENDENT STRATEGY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0080"/>
            <a:ext cx="5852160" cy="28803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Arial Black"/>
              </a:rPr>
              <a:t>GEN 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Arial Black"/>
              </a:rPr>
              <a:t>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3429000"/>
            <a:ext cx="6492240" cy="22402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 Black"/>
              </a:rPr>
              <a:t>WINNING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 Black"/>
              </a:rPr>
              <a:t>NEXT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2952" y="1322832"/>
            <a:ext cx="2057400" cy="9601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0C0D10"/>
                </a:solidFill>
                <a:latin typeface="Arial Black"/>
              </a:rPr>
              <a:t>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0C0D10"/>
                </a:solidFill>
                <a:latin typeface="Arial Black"/>
              </a:rPr>
              <a:t>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080760"/>
            <a:ext cx="548640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 Black"/>
              </a:rPr>
              <a:t>CULTURE • COMMUNITY •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82512"/>
            <a:ext cx="2743200" cy="182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 Black"/>
              </a:rPr>
              <a:t>INDIA / 2026</a:t>
            </a:r>
          </a:p>
        </p:txBody>
      </p:sp>
      <p:pic>
        <p:nvPicPr>
          <p:cNvPr id="13" name="Picture 12" descr="Nike Images – Browse 21,677 Stock Photos, Vectors, and Video | Adobe Stock">
            <a:extLst>
              <a:ext uri="{FF2B5EF4-FFF2-40B4-BE49-F238E27FC236}">
                <a16:creationId xmlns:a16="http://schemas.microsoft.com/office/drawing/2014/main" id="{481C0B2C-1A81-49B0-D283-76951CE14F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47539" y="0"/>
            <a:ext cx="9464040" cy="6858000"/>
          </a:xfrm>
          <a:prstGeom prst="rect">
            <a:avLst/>
          </a:prstGeom>
        </p:spPr>
      </p:pic>
      <p:pic>
        <p:nvPicPr>
          <p:cNvPr id="11" name="Picture 10" descr="Nike Logo and symbol, meaning, history, PNG, brand">
            <a:extLst>
              <a:ext uri="{FF2B5EF4-FFF2-40B4-BE49-F238E27FC236}">
                <a16:creationId xmlns:a16="http://schemas.microsoft.com/office/drawing/2014/main" id="{724F8D06-C3CA-B103-8F2D-84C791466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3329" y1="53992" x2="23329" y2="53992"/>
                        <a14:foregroundMark x1="39154" y1="53612" x2="39154" y2="536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47844" y="406908"/>
            <a:ext cx="2238432" cy="8031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5592AC-1BD4-ACBB-161C-D4591CD9DD80}"/>
              </a:ext>
            </a:extLst>
          </p:cNvPr>
          <p:cNvSpPr txBox="1"/>
          <p:nvPr/>
        </p:nvSpPr>
        <p:spPr>
          <a:xfrm>
            <a:off x="9799167" y="5349240"/>
            <a:ext cx="2057400" cy="9601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1" i="0" dirty="0">
                <a:solidFill>
                  <a:srgbClr val="0C0D10"/>
                </a:solidFill>
                <a:latin typeface="Arial Black"/>
              </a:rPr>
              <a:t>Prepared By:</a:t>
            </a:r>
            <a:br>
              <a:rPr lang="en-US" sz="2000" b="1" i="0" dirty="0">
                <a:solidFill>
                  <a:srgbClr val="0C0D10"/>
                </a:solidFill>
                <a:latin typeface="Arial Black"/>
              </a:rPr>
            </a:br>
            <a:r>
              <a:rPr lang="en-US" sz="2000" b="1" i="0" dirty="0">
                <a:solidFill>
                  <a:srgbClr val="0C0D10"/>
                </a:solidFill>
                <a:latin typeface="Arial Black"/>
              </a:rPr>
              <a:t>Tushar Verma</a:t>
            </a:r>
            <a:endParaRPr sz="2000" b="1" i="0" dirty="0">
              <a:solidFill>
                <a:srgbClr val="0C0D10"/>
              </a:solidFill>
              <a:latin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OUR STRATEGIC PREMISE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353312"/>
            <a:ext cx="10607040" cy="4389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 growth strategy must connect inspiration 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3493008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50008"/>
            <a:ext cx="548640" cy="3474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292608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85032"/>
            <a:ext cx="2971800" cy="1033271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Nike can earn a place in the everyday sport and style moments of young Indians.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103120"/>
            <a:ext cx="3493008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2350008"/>
            <a:ext cx="548640" cy="3474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926080"/>
            <a:ext cx="292608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685032"/>
            <a:ext cx="2971800" cy="1033271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Community experiences can turn attention into a more active relationship.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103120"/>
            <a:ext cx="3493008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350008"/>
            <a:ext cx="548640" cy="3474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926080"/>
            <a:ext cx="292608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685032"/>
            <a:ext cx="2971800" cy="1033271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Clear discovery and product guidance can help close the intent-to-purchase gap.</a:t>
            </a:r>
          </a:p>
        </p:txBody>
      </p:sp>
      <p:pic>
        <p:nvPicPr>
          <p:cNvPr id="22" name="Graphic 21" descr="Swoosh - Wikipedia">
            <a:extLst>
              <a:ext uri="{FF2B5EF4-FFF2-40B4-BE49-F238E27FC236}">
                <a16:creationId xmlns:a16="http://schemas.microsoft.com/office/drawing/2014/main" id="{1C68B0CE-2639-F357-B008-1568228AA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THE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MARKET CONTEXT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27432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₹824bn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18488"/>
            <a:ext cx="4389120" cy="5943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India sportswear retail sales, 2025*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2569463"/>
            <a:ext cx="6629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926080"/>
            <a:ext cx="27432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11%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35808"/>
            <a:ext cx="4389120" cy="5943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Current-value growth, 2025*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986784"/>
            <a:ext cx="66294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4343400"/>
            <a:ext cx="27432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₹1.30tn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53128"/>
            <a:ext cx="4389120" cy="5943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Forecast category value, 2030*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06440"/>
            <a:ext cx="10698480" cy="3474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*Euromonitor public overview. Broad sportswear category—not Gen Z spend, Nike revenue, or a bottom-up TAM.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463040"/>
            <a:ext cx="3657600" cy="4297680"/>
          </a:xfrm>
          <a:prstGeom prst="rect">
            <a:avLst/>
          </a:prstGeom>
          <a:solidFill>
            <a:srgbClr val="0C0F16"/>
          </a:solidFill>
          <a:ln w="1524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74320" rIns="201168" bIns="182880" rtlCol="0" anchor="ctr">
            <a:normAutofit/>
          </a:bodyPr>
          <a:lstStyle/>
          <a:p>
            <a:pPr algn="ctr">
              <a:spcAft>
                <a:spcPts val="1800"/>
              </a:spcAft>
            </a:pPr>
            <a:r>
              <a:rPr sz="2700" b="1" dirty="0">
                <a:solidFill>
                  <a:srgbClr val="FFFFFF"/>
                </a:solidFill>
                <a:latin typeface="Arial Black"/>
              </a:rPr>
              <a:t>SPORT</a:t>
            </a:r>
          </a:p>
          <a:p>
            <a:pPr>
              <a:spcAft>
                <a:spcPts val="1800"/>
              </a:spcAft>
            </a:pPr>
            <a:r>
              <a:rPr sz="2700" b="1" dirty="0">
                <a:solidFill>
                  <a:srgbClr val="E8E200"/>
                </a:solidFill>
                <a:latin typeface="Arial Black"/>
              </a:rPr>
              <a:t>STYLE</a:t>
            </a:r>
          </a:p>
          <a:p>
            <a:pPr>
              <a:spcAft>
                <a:spcPts val="1800"/>
              </a:spcAft>
            </a:pPr>
            <a:r>
              <a:rPr lang="en-IN" sz="2700" b="1" dirty="0">
                <a:solidFill>
                  <a:srgbClr val="FFFFFF"/>
                </a:solidFill>
                <a:latin typeface="Arial Black"/>
              </a:rPr>
              <a:t>        EVERYDAY</a:t>
            </a:r>
            <a:endParaRPr sz="2700" b="1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9" name="Graphic 8" descr="Swoosh - Wikipedia">
            <a:extLst>
              <a:ext uri="{FF2B5EF4-FFF2-40B4-BE49-F238E27FC236}">
                <a16:creationId xmlns:a16="http://schemas.microsoft.com/office/drawing/2014/main" id="{1BC85F3A-6F35-C126-CE36-B4C2DB5C7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  <p:pic>
        <p:nvPicPr>
          <p:cNvPr id="10" name="Picture 9" descr="Nike Wallpapers: Free HD Download [500+ 4K]">
            <a:extLst>
              <a:ext uri="{FF2B5EF4-FFF2-40B4-BE49-F238E27FC236}">
                <a16:creationId xmlns:a16="http://schemas.microsoft.com/office/drawing/2014/main" id="{6C89ADBB-2CF3-6ED9-B60C-757A373D10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052815" y="1618488"/>
            <a:ext cx="3474718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MARKET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48056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THREE FORCES SHAPE THE OPPORTUNITY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04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0" y="5349240"/>
            <a:ext cx="1554480" cy="36576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0" y="5349240"/>
            <a:ext cx="1463040" cy="9144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017520" y="4892040"/>
            <a:ext cx="1280160" cy="54864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97680" y="4572000"/>
            <a:ext cx="1371600" cy="32004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669280" y="3977639"/>
            <a:ext cx="1280160" cy="594361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49440" y="3794760"/>
            <a:ext cx="1463040" cy="182879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412480" y="2743200"/>
            <a:ext cx="1280160" cy="105156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692640" y="1508760"/>
            <a:ext cx="1554480" cy="123444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247120" y="1097280"/>
            <a:ext cx="941832" cy="411480"/>
          </a:xfrm>
          <a:prstGeom prst="line">
            <a:avLst/>
          </a:prstGeom>
          <a:ln w="50800">
            <a:solidFill>
              <a:srgbClr val="D30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788920"/>
            <a:ext cx="3017520" cy="7772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NEW MARKET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PENETRATION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749039"/>
            <a:ext cx="2926080" cy="12344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Youth occasions can expand category relevance beyond core performance needs.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1828800"/>
            <a:ext cx="0" cy="361188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53128" y="2788920"/>
            <a:ext cx="3017520" cy="7772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DEFINING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749039"/>
            <a:ext cx="2926080" cy="12344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Lifestyle, fitness, and sneaker culture create distinct shopping missions.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46720" y="1828800"/>
            <a:ext cx="0" cy="361188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7888" y="2788920"/>
            <a:ext cx="3017520" cy="7772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ALL-IN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 Black"/>
              </a:rPr>
              <a:t>INVESTMENTS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749039"/>
            <a:ext cx="2926080" cy="12344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Brands compete across product, creators, community, and retail touchpoints.</a:t>
            </a:r>
          </a:p>
        </p:txBody>
      </p:sp>
      <p:pic>
        <p:nvPicPr>
          <p:cNvPr id="27" name="Graphic 26" descr="Swoosh - Wikipedia">
            <a:extLst>
              <a:ext uri="{FF2B5EF4-FFF2-40B4-BE49-F238E27FC236}">
                <a16:creationId xmlns:a16="http://schemas.microsoft.com/office/drawing/2014/main" id="{5D43E7DA-5E93-B41A-9818-1F00817C4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C0D10"/>
                </a:solidFill>
                <a:latin typeface="Arial Black"/>
              </a:rPr>
              <a:t>STRATEGIC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C0D10"/>
                </a:solidFill>
                <a:latin typeface="Arial Black"/>
              </a:rPr>
              <a:t>WE KNOW THE ARENA. THE QUESTION IS HOW WE SHOW UP.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69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6F73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6F73"/>
                </a:solidFill>
                <a:latin typeface="Arial Black"/>
              </a:rPr>
              <a:t>STRATEGY CONCEPT     /     05</a:t>
            </a:r>
          </a:p>
        </p:txBody>
      </p:sp>
      <p:pic>
        <p:nvPicPr>
          <p:cNvPr id="9" name="Picture 8" descr="nike_ref_basketbal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64592"/>
            <a:ext cx="4892040" cy="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783080"/>
            <a:ext cx="6217920" cy="16916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C0D10"/>
                </a:solidFill>
                <a:latin typeface="Arial Black"/>
              </a:rPr>
              <a:t>WIN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C0D10"/>
                </a:solidFill>
                <a:latin typeface="Arial Black"/>
              </a:rPr>
              <a:t>NEXT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C0D10"/>
                </a:solidFill>
                <a:latin typeface="Arial Black"/>
              </a:rPr>
              <a:t>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03320"/>
            <a:ext cx="5669280" cy="7772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C0D10"/>
                </a:solidFill>
                <a:latin typeface="Arial"/>
              </a:rPr>
              <a:t>Build stronger relevance with Indian Gen Z through distinctive, measurable market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047488"/>
            <a:ext cx="219456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0D10"/>
                </a:solidFill>
                <a:latin typeface="Arial Black"/>
              </a:rPr>
              <a:t>01  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5047488"/>
            <a:ext cx="24688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0D10"/>
                </a:solidFill>
                <a:latin typeface="Arial Black"/>
              </a:rPr>
              <a:t>02  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440680"/>
            <a:ext cx="237744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0D10"/>
                </a:solidFill>
                <a:latin typeface="Arial Black"/>
              </a:rPr>
              <a:t>03  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053328"/>
            <a:ext cx="612648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87878"/>
                </a:solidFill>
                <a:latin typeface="Arial"/>
              </a:rPr>
              <a:t>Independent hypothetical case study; not affiliated with Nike.</a:t>
            </a:r>
          </a:p>
        </p:txBody>
      </p:sp>
      <p:pic>
        <p:nvPicPr>
          <p:cNvPr id="16" name="Graphic 15" descr="Swoosh - Wikipedia">
            <a:extLst>
              <a:ext uri="{FF2B5EF4-FFF2-40B4-BE49-F238E27FC236}">
                <a16:creationId xmlns:a16="http://schemas.microsoft.com/office/drawing/2014/main" id="{A4B3E72D-AC71-635C-D5B3-C8026EBDB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  <p:pic>
        <p:nvPicPr>
          <p:cNvPr id="17" name="Picture 16" descr="Nike é a marca de vestuário mais valiosa do mundo pelo segundo ano  consecutivo - Época Negócios | Marketing">
            <a:extLst>
              <a:ext uri="{FF2B5EF4-FFF2-40B4-BE49-F238E27FC236}">
                <a16:creationId xmlns:a16="http://schemas.microsoft.com/office/drawing/2014/main" id="{765BECD5-E24C-9E20-E49F-BB73FFBE97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2318" y="-91441"/>
            <a:ext cx="12201874" cy="6968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CONSUMER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GEN Z IS NOT ONE CUSTOMER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3035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99616"/>
            <a:ext cx="630936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CAMPUS TRENDSETTERS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74520"/>
            <a:ext cx="630936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Identity, peer signals, versatile style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286000"/>
            <a:ext cx="7251192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2523744"/>
            <a:ext cx="53035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42032"/>
            <a:ext cx="630936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FITNESS ENTHUSIASTS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16936"/>
            <a:ext cx="630936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Performance, comfort, progress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3328415"/>
            <a:ext cx="7251192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3566160"/>
            <a:ext cx="53035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84448"/>
            <a:ext cx="630936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YOUNG PROFESSIONALS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959352"/>
            <a:ext cx="630936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Everyday utility, quality, ease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4370832"/>
            <a:ext cx="7251192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4608576"/>
            <a:ext cx="53035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626864"/>
            <a:ext cx="630936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SNEAKER &amp; 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01768"/>
            <a:ext cx="630936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Design, drops, cultural credibility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70448"/>
            <a:ext cx="1069848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FFFFF"/>
                </a:solidFill>
                <a:latin typeface="Arial"/>
              </a:rPr>
              <a:t>Working segments only; validate through primary research before targeting or scaling.</a:t>
            </a:r>
          </a:p>
        </p:txBody>
      </p:sp>
      <p:pic>
        <p:nvPicPr>
          <p:cNvPr id="9" name="Graphic 8" descr="Swoosh - Wikipedia">
            <a:extLst>
              <a:ext uri="{FF2B5EF4-FFF2-40B4-BE49-F238E27FC236}">
                <a16:creationId xmlns:a16="http://schemas.microsoft.com/office/drawing/2014/main" id="{0B45295B-4118-2BF1-C0CD-13D2A3BD2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MARKET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 Black"/>
              </a:rPr>
              <a:t>THE COMPETITIVE SET SPANS DIFFERENT JOBS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0972800" cy="804672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270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55063"/>
            <a:ext cx="2240280" cy="25603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</a:rPr>
              <a:t>GLOBAL 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27631"/>
            <a:ext cx="292608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Nike • adidas • Puma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19"/>
            <a:ext cx="480060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Performance, lifestyle and cultural storytelling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42032"/>
            <a:ext cx="10972800" cy="804672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270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88336"/>
            <a:ext cx="2240280" cy="25603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</a:rPr>
              <a:t>VALUE &amp;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60903"/>
            <a:ext cx="292608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Decathlon • Campus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79191"/>
            <a:ext cx="480060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Functional breadth, accessibility and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75303"/>
            <a:ext cx="10972800" cy="804672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270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21607"/>
            <a:ext cx="2240280" cy="25603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</a:rPr>
              <a:t>COMFORT &amp; SPECIALTY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694176"/>
            <a:ext cx="292608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Skechers • New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12463"/>
            <a:ext cx="480060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Comfort, running and lifestyle niches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5"/>
            <a:ext cx="10972800" cy="804672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270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754879"/>
            <a:ext cx="2240280" cy="25603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</a:rPr>
              <a:t>WOMEN’S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727447"/>
            <a:ext cx="292608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BlissClub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45736"/>
            <a:ext cx="480060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Women-focused activewear and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1088136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FFFFF"/>
                </a:solidFill>
                <a:latin typeface="Arial"/>
              </a:rPr>
              <a:t>Compare propositions and shopping occasions—not a single league table. Validate with a dated SKU / price / availability audit.</a:t>
            </a:r>
          </a:p>
        </p:txBody>
      </p:sp>
      <p:pic>
        <p:nvPicPr>
          <p:cNvPr id="26" name="Graphic 25" descr="Swoosh - Wikipedia">
            <a:extLst>
              <a:ext uri="{FF2B5EF4-FFF2-40B4-BE49-F238E27FC236}">
                <a16:creationId xmlns:a16="http://schemas.microsoft.com/office/drawing/2014/main" id="{2FC4F74A-BC0D-97AA-A97F-1361797F1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blue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OPPORTUNITY DIAGNOSIS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THE CONVERSION JOURNEY IS THE STRATEGY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920240" cy="8046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19202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92024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Culture &amp; 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63368"/>
            <a:ext cx="158191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dirty="0">
                <a:solidFill>
                  <a:srgbClr val="E8E200"/>
                </a:solidFill>
                <a:latin typeface="Arial Black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057400"/>
            <a:ext cx="1920240" cy="8046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063240"/>
            <a:ext cx="19202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657600"/>
            <a:ext cx="192024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Relevance &amp;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057400"/>
            <a:ext cx="1920240" cy="8046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063240"/>
            <a:ext cx="19202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3657600"/>
            <a:ext cx="192024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Product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57400"/>
            <a:ext cx="1920240" cy="8046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063240"/>
            <a:ext cx="19202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BUY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657600"/>
            <a:ext cx="192024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Confidence &amp; 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057400"/>
            <a:ext cx="1920240" cy="80467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063240"/>
            <a:ext cx="19202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657600"/>
            <a:ext cx="192024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Experience &amp; value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4800600"/>
            <a:ext cx="1072591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5138928"/>
            <a:ext cx="155448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E200"/>
                </a:solidFill>
                <a:latin typeface="Arial Black"/>
              </a:rPr>
              <a:t>HYPOTHESIS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074920"/>
            <a:ext cx="9052560" cy="56692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Black"/>
              </a:rPr>
              <a:t>Value may be lost in the hand-offs between inspiration, confidence and purchase. Measure each step.</a:t>
            </a:r>
          </a:p>
        </p:txBody>
      </p:sp>
      <p:pic>
        <p:nvPicPr>
          <p:cNvPr id="31" name="Graphic 30" descr="Swoosh - Wikipedia">
            <a:extLst>
              <a:ext uri="{FF2B5EF4-FFF2-40B4-BE49-F238E27FC236}">
                <a16:creationId xmlns:a16="http://schemas.microsoft.com/office/drawing/2014/main" id="{494E03B2-B90E-75F3-F3EA-7C190089F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C2A72D6-8D9D-2021-E667-48D3F671A496}"/>
              </a:ext>
            </a:extLst>
          </p:cNvPr>
          <p:cNvSpPr txBox="1"/>
          <p:nvPr/>
        </p:nvSpPr>
        <p:spPr>
          <a:xfrm>
            <a:off x="3858768" y="2557272"/>
            <a:ext cx="158191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dirty="0">
                <a:solidFill>
                  <a:srgbClr val="E8E200"/>
                </a:solidFill>
                <a:latin typeface="Arial Black"/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9513DF-007A-EBF3-E3E4-B24A7E3E6450}"/>
              </a:ext>
            </a:extLst>
          </p:cNvPr>
          <p:cNvSpPr txBox="1"/>
          <p:nvPr/>
        </p:nvSpPr>
        <p:spPr>
          <a:xfrm>
            <a:off x="6388608" y="2563368"/>
            <a:ext cx="158191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dirty="0">
                <a:solidFill>
                  <a:srgbClr val="E8E200"/>
                </a:solidFill>
                <a:latin typeface="Arial Black"/>
              </a:rPr>
              <a:t>→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6CE572-D885-D1BC-1A73-F1B815F44F9A}"/>
              </a:ext>
            </a:extLst>
          </p:cNvPr>
          <p:cNvSpPr txBox="1"/>
          <p:nvPr/>
        </p:nvSpPr>
        <p:spPr>
          <a:xfrm>
            <a:off x="8503920" y="2569464"/>
            <a:ext cx="1581912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dirty="0">
                <a:solidFill>
                  <a:srgbClr val="E8E200"/>
                </a:solidFill>
                <a:latin typeface="Arial Black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STRATEGIC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ONE PLATFORM. THREE CONNECTED MOVES.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502152" cy="324612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84831"/>
            <a:ext cx="301752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 Black"/>
              </a:rPr>
              <a:t>01 / 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2971800" cy="10058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MAKE SPORT FEEL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LIKE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9718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Creator-led stories grounded in real youth occasions.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828800"/>
            <a:ext cx="3502152" cy="324612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084831"/>
            <a:ext cx="301752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 Black"/>
              </a:rPr>
              <a:t>02 /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670048"/>
            <a:ext cx="2971800" cy="10058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CREATE REASONS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TO PARTICIPATE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4023360"/>
            <a:ext cx="29718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Campus and local movement experiences with follow-through.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828800"/>
            <a:ext cx="3502152" cy="324612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2084831"/>
            <a:ext cx="301752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 Black"/>
              </a:rPr>
              <a:t>03 / 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670048"/>
            <a:ext cx="2971800" cy="10058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TURN INTENT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INTO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4023360"/>
            <a:ext cx="2971800" cy="7315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Clear product discovery, use-case guidance and purchase paths.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15000"/>
            <a:ext cx="1078992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Culture earns attention  /  Community builds affinity  /  Commerce captures intent</a:t>
            </a:r>
          </a:p>
        </p:txBody>
      </p:sp>
      <p:pic>
        <p:nvPicPr>
          <p:cNvPr id="22" name="Graphic 21" descr="Swoosh - Wikipedia">
            <a:extLst>
              <a:ext uri="{FF2B5EF4-FFF2-40B4-BE49-F238E27FC236}">
                <a16:creationId xmlns:a16="http://schemas.microsoft.com/office/drawing/2014/main" id="{52EB368C-DFE3-35A0-C1FF-45AE86D4D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C0D10"/>
                </a:solidFill>
                <a:latin typeface="Arial Black"/>
              </a:rPr>
              <a:t>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C0D10"/>
                </a:solidFill>
                <a:latin typeface="Arial Black"/>
              </a:rPr>
              <a:t>01  /  EARN RELEVANCE IN REAL LIFE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69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6F73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6F73"/>
                </a:solidFill>
                <a:latin typeface="Arial Black"/>
              </a:rPr>
              <a:t>STRATEGY CONCEPT     /     10</a:t>
            </a:r>
          </a:p>
        </p:txBody>
      </p:sp>
      <p:pic>
        <p:nvPicPr>
          <p:cNvPr id="9" name="Picture 8" descr="nike_ref_basketbal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"/>
            <a:ext cx="5440680" cy="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645920"/>
            <a:ext cx="5212080" cy="1051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C0D10"/>
                </a:solidFill>
                <a:latin typeface="Arial Black"/>
              </a:rPr>
              <a:t>PLAY IS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C0D10"/>
                </a:solidFill>
                <a:latin typeface="Arial Black"/>
              </a:rPr>
              <a:t>LIFESTYLE.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52928"/>
            <a:ext cx="5029200" cy="6858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D10"/>
                </a:solidFill>
                <a:latin typeface="Arial"/>
              </a:rPr>
              <a:t>Move beyond product-first messaging toward the moments sport already occupies.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94760"/>
            <a:ext cx="182880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D10"/>
                </a:solidFill>
                <a:latin typeface="Arial Black"/>
              </a:rPr>
              <a:t>CAMPUS 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794760"/>
            <a:ext cx="3383280" cy="329184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266"/>
                </a:solidFill>
                <a:latin typeface="Arial"/>
              </a:rPr>
              <a:t>Participation, teams, peer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98264"/>
            <a:ext cx="182880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D10"/>
                </a:solidFill>
                <a:latin typeface="Arial Black"/>
              </a:rPr>
              <a:t>MOVE YOUR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398264"/>
            <a:ext cx="3383280" cy="329184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266"/>
                </a:solidFill>
                <a:latin typeface="Arial"/>
              </a:rPr>
              <a:t>Fitness, dance, running, everyday 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001768"/>
            <a:ext cx="182880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D10"/>
                </a:solidFill>
                <a:latin typeface="Arial Black"/>
              </a:rPr>
              <a:t>STYLE IN 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001768"/>
            <a:ext cx="3383280" cy="329184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266"/>
                </a:solidFill>
                <a:latin typeface="Arial"/>
              </a:rPr>
              <a:t>Versatile looks anchored in activity</a:t>
            </a:r>
          </a:p>
        </p:txBody>
      </p:sp>
      <p:pic>
        <p:nvPicPr>
          <p:cNvPr id="18" name="Graphic 17" descr="Swoosh - Wikipedia">
            <a:extLst>
              <a:ext uri="{FF2B5EF4-FFF2-40B4-BE49-F238E27FC236}">
                <a16:creationId xmlns:a16="http://schemas.microsoft.com/office/drawing/2014/main" id="{E35A0A72-A5C2-6250-9561-3AA2CB3F7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  <p:pic>
        <p:nvPicPr>
          <p:cNvPr id="19" name="Picture 18" descr="Nike's sales inch up as China troubles remain | LinkedIn">
            <a:extLst>
              <a:ext uri="{FF2B5EF4-FFF2-40B4-BE49-F238E27FC236}">
                <a16:creationId xmlns:a16="http://schemas.microsoft.com/office/drawing/2014/main" id="{9A2575D8-C9D2-143F-D2D5-CBF445A562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86060" y="-11431"/>
            <a:ext cx="12277756" cy="69608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dark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COMMUNITY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 Black"/>
              </a:rPr>
              <a:t>02  /  TURN AUDIENCES INTO PARTICIPANTS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943600" cy="1325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dirty="0">
                <a:solidFill>
                  <a:srgbClr val="FFFFFF"/>
                </a:solidFill>
                <a:latin typeface="Arial Black"/>
              </a:rPr>
              <a:t>LOCAL ENERGY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dirty="0">
                <a:solidFill>
                  <a:srgbClr val="FFFFFF"/>
                </a:solidFill>
                <a:latin typeface="Arial Black"/>
              </a:rPr>
              <a:t>→</a:t>
            </a:r>
            <a:r>
              <a:rPr sz="3100" b="1" i="0" dirty="0">
                <a:solidFill>
                  <a:srgbClr val="FFFFFF"/>
                </a:solidFill>
                <a:latin typeface="Arial Black"/>
              </a:rPr>
              <a:t> BRAND AFFINITY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54680"/>
            <a:ext cx="5394960" cy="6400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Connect online discovery with repeatable offline participation.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60520"/>
            <a:ext cx="141732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E200"/>
                </a:solidFill>
                <a:latin typeface="Arial Black"/>
              </a:rPr>
              <a:t>CAMPUS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60520"/>
            <a:ext cx="4343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Student-led clubs and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141732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E200"/>
                </a:solidFill>
                <a:latin typeface="Arial Black"/>
              </a:rPr>
              <a:t>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663440"/>
            <a:ext cx="4343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Community runs and meetups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66360"/>
            <a:ext cx="141732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E200"/>
                </a:solidFill>
                <a:latin typeface="Arial Black"/>
              </a:rPr>
              <a:t>CREATORS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166360"/>
            <a:ext cx="4343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Co-created stories and participation</a:t>
            </a:r>
          </a:p>
        </p:txBody>
      </p:sp>
      <p:pic>
        <p:nvPicPr>
          <p:cNvPr id="9" name="Graphic 8" descr="Swoosh - Wikipedia">
            <a:extLst>
              <a:ext uri="{FF2B5EF4-FFF2-40B4-BE49-F238E27FC236}">
                <a16:creationId xmlns:a16="http://schemas.microsoft.com/office/drawing/2014/main" id="{4E74A247-AF8E-62CA-2064-C5ECC9E2F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COMMERCE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03  /  MAKE PRODUCT CHOICE FEEL EASIER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1060704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Reduce friction from inspiration to a confident first purchase.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30551"/>
            <a:ext cx="420624" cy="420624"/>
          </a:xfrm>
          <a:prstGeom prst="ellipse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2231136"/>
            <a:ext cx="237744" cy="1645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0D10"/>
                </a:solidFill>
                <a:latin typeface="A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84831"/>
            <a:ext cx="2057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084831"/>
            <a:ext cx="69494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Relevant edits by activity, style and occasion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2596896"/>
            <a:ext cx="94640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0080" y="2916935"/>
            <a:ext cx="420624" cy="420624"/>
          </a:xfrm>
          <a:prstGeom prst="ellipse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3017520"/>
            <a:ext cx="237744" cy="1645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0D10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871215"/>
            <a:ext cx="2057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71215"/>
            <a:ext cx="69494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Simple use-case, fit and product guidance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3383279"/>
            <a:ext cx="94640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0080" y="3703320"/>
            <a:ext cx="420624" cy="420624"/>
          </a:xfrm>
          <a:prstGeom prst="ellipse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3803904"/>
            <a:ext cx="237744" cy="1645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0D10"/>
                </a:solidFill>
                <a:latin typeface="Arial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57600"/>
            <a:ext cx="2057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657600"/>
            <a:ext cx="69494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Transparent availability, delivery and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4169664"/>
            <a:ext cx="94640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" y="4489703"/>
            <a:ext cx="420624" cy="420624"/>
          </a:xfrm>
          <a:prstGeom prst="ellipse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" y="4590288"/>
            <a:ext cx="237744" cy="1645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0D10"/>
                </a:solidFill>
                <a:latin typeface="Arial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43983"/>
            <a:ext cx="205740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RE-ENGAGE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443983"/>
            <a:ext cx="6949440" cy="3657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Post-purchase care and relevant next steps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17320" y="4956048"/>
            <a:ext cx="94640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5532120"/>
            <a:ext cx="10789920" cy="475488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270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10332720" cy="182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fontScale="92500"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 Black"/>
              </a:rPr>
              <a:t>TEST  /  Product-page engagement  •  Add-to-cart  •  Conversion  •  Return rate</a:t>
            </a:r>
          </a:p>
        </p:txBody>
      </p:sp>
      <p:pic>
        <p:nvPicPr>
          <p:cNvPr id="32" name="Graphic 31" descr="Swoosh - Wikipedia">
            <a:extLst>
              <a:ext uri="{FF2B5EF4-FFF2-40B4-BE49-F238E27FC236}">
                <a16:creationId xmlns:a16="http://schemas.microsoft.com/office/drawing/2014/main" id="{1403BD31-412D-94C3-E42E-E92C71B748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solidFill>
            <a:srgbClr val="E8E200"/>
          </a:solidFill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A 12-MONTH TEST-AND-LEARN 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2423160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2286000" cy="4389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rial Black"/>
              </a:rPr>
              <a:t>0</a:t>
            </a:r>
            <a:r>
              <a:rPr lang="en-US" sz="2300" b="1" i="0" dirty="0">
                <a:solidFill>
                  <a:srgbClr val="FFFFFF"/>
                </a:solidFill>
                <a:latin typeface="Arial Black"/>
              </a:rPr>
              <a:t>1 - </a:t>
            </a:r>
            <a:r>
              <a:rPr sz="2300" b="1" i="0" dirty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228600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2304288" cy="1051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Interviews, directional survey, channel and SKU audit, baseline.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194560"/>
            <a:ext cx="274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83280" y="2148840"/>
            <a:ext cx="2423160" cy="100584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2487168"/>
            <a:ext cx="2286000" cy="4389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rial Black"/>
              </a:rPr>
              <a:t>04</a:t>
            </a:r>
            <a:r>
              <a:rPr lang="en-US" sz="2300" b="1" i="0" dirty="0">
                <a:solidFill>
                  <a:srgbClr val="FFFFFF"/>
                </a:solidFill>
                <a:latin typeface="Arial Black"/>
              </a:rPr>
              <a:t> - </a:t>
            </a:r>
            <a:r>
              <a:rPr sz="2300" b="1" i="0" dirty="0">
                <a:solidFill>
                  <a:srgbClr val="FFFFFF"/>
                </a:solidFill>
                <a:latin typeface="Arial Black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82112"/>
            <a:ext cx="228600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49039"/>
            <a:ext cx="2304288" cy="1051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Run focused creator, campus and product-discovery pilots.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2194560"/>
            <a:ext cx="274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17920" y="2148840"/>
            <a:ext cx="2423160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487168"/>
            <a:ext cx="2286000" cy="4389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rial Black"/>
              </a:rPr>
              <a:t>07</a:t>
            </a:r>
            <a:r>
              <a:rPr lang="en-US" sz="2300" b="1" i="0" dirty="0">
                <a:solidFill>
                  <a:srgbClr val="FFFFFF"/>
                </a:solidFill>
                <a:latin typeface="Arial Black"/>
              </a:rPr>
              <a:t> - </a:t>
            </a:r>
            <a:r>
              <a:rPr sz="2300" b="1" i="0" dirty="0">
                <a:solidFill>
                  <a:srgbClr val="FFFFFF"/>
                </a:solidFill>
                <a:latin typeface="Arial Black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82112"/>
            <a:ext cx="228600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49039"/>
            <a:ext cx="2304288" cy="1051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Compare cohorts, refine creative and funnel, shift spend to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2194560"/>
            <a:ext cx="274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2560" y="2487168"/>
            <a:ext cx="2286000" cy="4389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 dirty="0">
                <a:solidFill>
                  <a:srgbClr val="FFFFFF"/>
                </a:solidFill>
                <a:latin typeface="Arial Black"/>
              </a:rPr>
              <a:t>10</a:t>
            </a:r>
            <a:r>
              <a:rPr lang="en-US" sz="2300" b="1" i="0" dirty="0">
                <a:solidFill>
                  <a:srgbClr val="FFFFFF"/>
                </a:solidFill>
                <a:latin typeface="Arial Black"/>
              </a:rPr>
              <a:t> - </a:t>
            </a:r>
            <a:r>
              <a:rPr sz="2300" b="1" i="0" dirty="0">
                <a:solidFill>
                  <a:srgbClr val="FFFFFF"/>
                </a:solidFill>
                <a:latin typeface="Arial Black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182112"/>
            <a:ext cx="228600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 Black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749039"/>
            <a:ext cx="2304288" cy="1051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Expand repeatable formats; codify operating playbook and measurement.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94960"/>
            <a:ext cx="10789920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STAGE GATES  /  Evidence quality → Unit economics → Repeatability → Scale decision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942CA2-581E-8A04-A758-69460D2875B4}"/>
              </a:ext>
            </a:extLst>
          </p:cNvPr>
          <p:cNvSpPr/>
          <p:nvPr/>
        </p:nvSpPr>
        <p:spPr>
          <a:xfrm>
            <a:off x="9052560" y="2156460"/>
            <a:ext cx="2423160" cy="100584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Graphic 29" descr="Swoosh - Wikipedia">
            <a:extLst>
              <a:ext uri="{FF2B5EF4-FFF2-40B4-BE49-F238E27FC236}">
                <a16:creationId xmlns:a16="http://schemas.microsoft.com/office/drawing/2014/main" id="{A7172518-F504-959F-7DCD-6018AD17B1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KPI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MEASURE THE SYSTEM, NOT VANITY METRICS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468880" cy="269748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21031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200"/>
                </a:solidFill>
                <a:latin typeface="Arial Black"/>
              </a:rPr>
              <a:t>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80360"/>
            <a:ext cx="2103120" cy="13533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Reach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Engagement 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Creator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965960"/>
            <a:ext cx="2468880" cy="269748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267712"/>
            <a:ext cx="21031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200"/>
                </a:solidFill>
                <a:latin typeface="Arial Black"/>
              </a:rPr>
              <a:t>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2103120" cy="13533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Consideration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Qualified product visits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Product detail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965960"/>
            <a:ext cx="2468880" cy="269748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267712"/>
            <a:ext cx="21031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200"/>
                </a:solidFill>
                <a:latin typeface="Arial Black"/>
              </a:rPr>
              <a:t>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880360"/>
            <a:ext cx="2103120" cy="13533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Add-to-cart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Purchase conversion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CAC / first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965960"/>
            <a:ext cx="2468880" cy="269748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98864" y="2267712"/>
            <a:ext cx="21031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E200"/>
                </a:solidFill>
                <a:latin typeface="Arial Black"/>
              </a:rP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880360"/>
            <a:ext cx="2103120" cy="135331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Contribution / order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Repeat purchase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Returns &amp; cancellations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57800"/>
            <a:ext cx="10698480" cy="5486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 Black"/>
              </a:rPr>
              <a:t>Read results by cohort, city tier, activity, channel and campaign. Establish baselines before launch.</a:t>
            </a:r>
          </a:p>
        </p:txBody>
      </p:sp>
      <p:pic>
        <p:nvPicPr>
          <p:cNvPr id="22" name="Graphic 21" descr="Swoosh - Wikipedia">
            <a:extLst>
              <a:ext uri="{FF2B5EF4-FFF2-40B4-BE49-F238E27FC236}">
                <a16:creationId xmlns:a16="http://schemas.microsoft.com/office/drawing/2014/main" id="{2CEE8AE4-B30E-388C-1547-A690E5D82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FINANCIAL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 Black"/>
              </a:rPr>
              <a:t>ILLUSTRATIVE ECONOMICS: TEST BEFORE SCALING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25880"/>
            <a:ext cx="10607040" cy="32004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Editable scenario assumptions—not Nike internal data or a forecast.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29260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DOWNSIDE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2926080" cy="6400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₹27.7L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7872"/>
            <a:ext cx="210312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REVENUE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931920"/>
            <a:ext cx="292608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133087"/>
            <a:ext cx="274320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–₹90.6L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53712"/>
            <a:ext cx="2743200" cy="182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Lower reach / 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96596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2267712"/>
            <a:ext cx="29260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816352"/>
            <a:ext cx="2926080" cy="6400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₹2.06Cr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547872"/>
            <a:ext cx="210312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REVENUE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79" y="3931920"/>
            <a:ext cx="292608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26279" y="4133087"/>
            <a:ext cx="274320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–₹30.0L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553712"/>
            <a:ext cx="2743200" cy="182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Working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96596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0C0F16"/>
          </a:solidFill>
          <a:ln w="13970">
            <a:solidFill>
              <a:srgbClr val="E8E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9" y="2267712"/>
            <a:ext cx="29260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UPSIDE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816352"/>
            <a:ext cx="2926080" cy="6400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₹5.71Cr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547872"/>
            <a:ext cx="210312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REVENUE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75319" y="3931920"/>
            <a:ext cx="2926081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75319" y="4133087"/>
            <a:ext cx="274320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+₹94.0L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553712"/>
            <a:ext cx="2743200" cy="1828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Higher reach / 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193792"/>
            <a:ext cx="10698480" cy="621792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Net contribution after campaign spend; not net profit or causal ROI. Excludes overhead, tax, working capital, cannibalization and full returns effects.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97880"/>
            <a:ext cx="1060704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 Black"/>
              </a:rPr>
              <a:t>Base-case break-even: approximately 4,525 orders at assumed contribution per order.</a:t>
            </a:r>
          </a:p>
        </p:txBody>
      </p:sp>
      <p:pic>
        <p:nvPicPr>
          <p:cNvPr id="33" name="Graphic 32" descr="Swoosh - Wikipedia">
            <a:extLst>
              <a:ext uri="{FF2B5EF4-FFF2-40B4-BE49-F238E27FC236}">
                <a16:creationId xmlns:a16="http://schemas.microsoft.com/office/drawing/2014/main" id="{62B72C0D-44FF-DC0F-2FB1-DBB7714E1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46888"/>
            <a:ext cx="7315200" cy="2011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RISKS &amp;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9496"/>
            <a:ext cx="411480" cy="41148"/>
          </a:xfrm>
          <a:prstGeom prst="rect">
            <a:avLst/>
          </a:prstGeom>
          <a:solidFill>
            <a:srgbClr val="E8E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064240" cy="65836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 Black"/>
              </a:rPr>
              <a:t>WHAT MUST BE TRUE FOR THIS TO WORK?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3657600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NIKE / GEN Z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542032" cy="1554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 lnSpcReduction="10000"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EC6CB"/>
                </a:solidFill>
                <a:latin typeface="Arial Black"/>
              </a:rPr>
              <a:t>STRATEGY CONCEPT     /    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029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103120" cy="31089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417320"/>
            <a:ext cx="722376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Validate youth occasions and creative fit before broad rollout.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1975104"/>
            <a:ext cx="108356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249424"/>
            <a:ext cx="5029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49424"/>
            <a:ext cx="2103120" cy="31089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49424"/>
            <a:ext cx="722376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Track contribution after variable costs, not revenue alone.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2807208"/>
            <a:ext cx="108356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081528"/>
            <a:ext cx="5029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81528"/>
            <a:ext cx="2103120" cy="31089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081528"/>
            <a:ext cx="722376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Pilot with clear owners, partner capacity and operational readiness.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3639312"/>
            <a:ext cx="108356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3913632"/>
            <a:ext cx="5029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13632"/>
            <a:ext cx="2103120" cy="31089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MEASUREMENT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913632"/>
            <a:ext cx="722376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Set baselines, holdouts where feasible, and consistent attribution.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471416"/>
            <a:ext cx="108356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4745736"/>
            <a:ext cx="502920" cy="29260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200"/>
                </a:solidFill>
                <a:latin typeface="Arial Black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45736"/>
            <a:ext cx="2103120" cy="31089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 Black"/>
              </a:rPr>
              <a:t>BRAND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745736"/>
            <a:ext cx="7223760" cy="384048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Keep sport credible; avoid chasing short-lived trends without fit.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5303520"/>
            <a:ext cx="10835640" cy="0"/>
          </a:xfrm>
          <a:prstGeom prst="line">
            <a:avLst/>
          </a:prstGeom>
          <a:ln w="825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 descr="Swoosh - Wikipedia">
            <a:extLst>
              <a:ext uri="{FF2B5EF4-FFF2-40B4-BE49-F238E27FC236}">
                <a16:creationId xmlns:a16="http://schemas.microsoft.com/office/drawing/2014/main" id="{A6FAB401-912D-E8FE-FD10-EA09BF3FC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ke_grad_blue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A7D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7772400" cy="219456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BEFORE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 Black"/>
              </a:rPr>
              <a:t>YOU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0440"/>
            <a:ext cx="5486400" cy="4114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 practical evidence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096512"/>
            <a:ext cx="150876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E8E200"/>
                </a:solidFill>
                <a:latin typeface="Arial Black"/>
              </a:rPr>
              <a:t>20</a:t>
            </a:r>
            <a:r>
              <a:rPr lang="en-US" sz="1100" b="1" i="0" dirty="0">
                <a:solidFill>
                  <a:srgbClr val="E8E200"/>
                </a:solidFill>
                <a:latin typeface="Arial Black"/>
              </a:rPr>
              <a:t> - </a:t>
            </a:r>
            <a:r>
              <a:rPr sz="1100" b="1" i="0" dirty="0">
                <a:solidFill>
                  <a:srgbClr val="E8E200"/>
                </a:solidFill>
                <a:latin typeface="Arial Black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4096512"/>
            <a:ext cx="58978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Consumer interviews across segments and city 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535424"/>
            <a:ext cx="150876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200"/>
                </a:solidFill>
                <a:latin typeface="Arial Black"/>
              </a:rPr>
              <a:t>≈300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535424"/>
            <a:ext cx="58978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Directional survey to size needs and barriers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974336"/>
            <a:ext cx="150876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200"/>
                </a:solidFill>
                <a:latin typeface="Arial Black"/>
              </a:rPr>
              <a:t>DATED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4974336"/>
            <a:ext cx="58978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Competitor SKU, price and availability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413248"/>
            <a:ext cx="1508760" cy="219456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200"/>
                </a:solidFill>
                <a:latin typeface="Arial Black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5413248"/>
            <a:ext cx="589788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Funnel and contribution measurement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53328"/>
            <a:ext cx="7223760" cy="22860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 Black"/>
              </a:rPr>
              <a:t>INDEPENDENT HYPOTHETICAL CONSULTING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64224"/>
            <a:ext cx="7589520" cy="27432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Not commissioned by, affiliated with, or endorsed by Nike. Public category data and illustrative assumptions only; hypotheses require validation.</a:t>
            </a:r>
          </a:p>
        </p:txBody>
      </p:sp>
      <p:pic>
        <p:nvPicPr>
          <p:cNvPr id="18" name="Graphic 17" descr="Swoosh - Wikipedia">
            <a:extLst>
              <a:ext uri="{FF2B5EF4-FFF2-40B4-BE49-F238E27FC236}">
                <a16:creationId xmlns:a16="http://schemas.microsoft.com/office/drawing/2014/main" id="{2047C62C-C840-E8FC-308E-F4B7C8908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137" y="210311"/>
            <a:ext cx="976045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6840" y="5212080"/>
            <a:ext cx="2468880" cy="1097280"/>
          </a:xfrm>
          <a:prstGeom prst="rect">
            <a:avLst/>
          </a:prstGeom>
          <a:noFill/>
        </p:spPr>
        <p:txBody>
          <a:bodyPr wrap="square" lIns="32004" tIns="22860" rIns="32004" bIns="2286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0C0D10"/>
                </a:solidFill>
                <a:latin typeface="Arial Black"/>
              </a:rPr>
              <a:t>GEN 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0C0D10"/>
                </a:solidFill>
                <a:latin typeface="Arial Black"/>
              </a:rPr>
              <a:t>INDIA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dirty="0">
                <a:solidFill>
                  <a:srgbClr val="0C0D10"/>
                </a:solidFill>
                <a:latin typeface="Arial Black"/>
              </a:rPr>
              <a:t>2026</a:t>
            </a:r>
          </a:p>
        </p:txBody>
      </p:sp>
      <p:pic>
        <p:nvPicPr>
          <p:cNvPr id="20" name="Picture 19" descr="Nike Logo Wall Art with Neon Lights | Just did it nike wallpaper, Nike city  wallpaper, Nike landscape wallpaper">
            <a:extLst>
              <a:ext uri="{FF2B5EF4-FFF2-40B4-BE49-F238E27FC236}">
                <a16:creationId xmlns:a16="http://schemas.microsoft.com/office/drawing/2014/main" id="{AC49F383-A5C8-5CF0-8917-FA9D3F626B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 b="7278"/>
          <a:stretch>
            <a:fillRect/>
          </a:stretch>
        </p:blipFill>
        <p:spPr>
          <a:xfrm>
            <a:off x="8644128" y="-29046"/>
            <a:ext cx="3576075" cy="6868758"/>
          </a:xfrm>
          <a:prstGeom prst="rect">
            <a:avLst/>
          </a:prstGeom>
        </p:spPr>
      </p:pic>
      <p:pic>
        <p:nvPicPr>
          <p:cNvPr id="19" name="Picture 18" descr="Nike Logo and symbol, meaning, history, PNG, brand">
            <a:extLst>
              <a:ext uri="{FF2B5EF4-FFF2-40B4-BE49-F238E27FC236}">
                <a16:creationId xmlns:a16="http://schemas.microsoft.com/office/drawing/2014/main" id="{FBE08860-744F-6321-8B91-9ACBC1EA63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3329" y1="53992" x2="23329" y2="53992"/>
                        <a14:foregroundMark x1="39154" y1="53612" x2="39154" y2="536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0699" y="1948053"/>
            <a:ext cx="3667715" cy="1315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1161</Words>
  <Application>Microsoft Macintosh PowerPoint</Application>
  <PresentationFormat>Widescreen</PresentationFormat>
  <Paragraphs>279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Nike: Winning the Next Generation — Gen Z India Strategy</dc:title>
  <dc:subject>Independent hypothetical consulting case study</dc:subject>
  <dc:creator>Independent strategy case study</dc:creator>
  <cp:keywords/>
  <dc:description>generated using python-pptx</dc:description>
  <cp:lastModifiedBy>Tushar Verma (BDA 25-27)</cp:lastModifiedBy>
  <cp:revision>8</cp:revision>
  <dcterms:created xsi:type="dcterms:W3CDTF">2013-01-27T09:14:16Z</dcterms:created>
  <dcterms:modified xsi:type="dcterms:W3CDTF">2026-10-01T04:29:09Z</dcterms:modified>
  <cp:category/>
</cp:coreProperties>
</file>